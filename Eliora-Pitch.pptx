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Eliora is a study and focus coach chatbot built specifically for learners with ADD/ADHD. The thesis of the whole product is on the right side of this slide: the plan is never a wall of tasks, it is one step small enough that you cannot talk yourself out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 before the product. These three quotes map to three executive-function failures: initiation, decomposition, and retention. Eliora attacks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competitive claim: the gap isn't content, it's initiation. That's the wedge.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one-sentence pitch. Everything after this slide is evidence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judge remembers one slide, make it this one. These four rules are the difference between Eliora and a chatbot with a study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this left to right. Emphasise step 4 — the loop closing is what makes it a coach rather than a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Forest-style, but tuned: nothing dies, nothing shames. The five locations are the long-term retention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 vs generic chatbots: Eliora asks for the material instead of guessing at the syllabus.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retention answer to the third quote on the problem slide. The weak-spot list rides along with every request, so revision is automatic rather than remembered.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eight prompts with different names — each persona defines its own delivery style and read-aloud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integrity story. Schools will ask “doesn't this just do the homework?” — this is the slide that answers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Accessibility isn't a settings panel bolted on — the toggles are app-wide and the model itself is instructed to adapt.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Retention and the adult-in-the-loop story. Reports are the hook for a school or parent buyer.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are from the repo as built. Point out that web and mobile share one API, so every feature ships to both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thesis, not on a feature. The ask: a classroom to pilot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81328"/>
            <a:ext cx="786384" cy="786384"/>
          </a:xfrm>
          <a:prstGeom prst="ellipse">
            <a:avLst/>
          </a:prstGeom>
          <a:solidFill>
            <a:srgbClr val="1B4436"/>
          </a:solidFill>
          <a:ln w="12700">
            <a:solidFill>
              <a:srgbClr val="1B443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677924"/>
            <a:ext cx="393192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40864"/>
            <a:ext cx="6766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Eliora</a:t>
            </a:r>
            <a:endParaRPr lang="en-US" sz="6800" dirty="0"/>
          </a:p>
        </p:txBody>
      </p:sp>
      <p:sp>
        <p:nvSpPr>
          <p:cNvPr id="5" name="Text 2"/>
          <p:cNvSpPr/>
          <p:nvPr/>
        </p:nvSpPr>
        <p:spPr>
          <a:xfrm>
            <a:off x="640080" y="345643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i="1" dirty="0">
                <a:solidFill>
                  <a:srgbClr val="BFD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study coach built for the brain that can't start.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40080" y="5870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ADHD-first  ·  web + mobile  ·  one adaptive plan per learner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0" y="1572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NEXT STEP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772400" y="1975104"/>
            <a:ext cx="3794760" cy="841248"/>
          </a:xfrm>
          <a:prstGeom prst="roundRect">
            <a:avLst>
              <a:gd name="adj" fmla="val 13043"/>
            </a:avLst>
          </a:prstGeom>
          <a:solidFill>
            <a:srgbClr val="4A8F5E"/>
          </a:solidFill>
          <a:ln w="12700">
            <a:solidFill>
              <a:srgbClr val="4A8F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28432" y="21122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doc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28432" y="2432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seconds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0" y="3017520"/>
            <a:ext cx="3794760" cy="841248"/>
          </a:xfrm>
          <a:prstGeom prst="roundRect">
            <a:avLst>
              <a:gd name="adj" fmla="val 13043"/>
            </a:avLst>
          </a:prstGeom>
          <a:solidFill>
            <a:srgbClr val="1B4436"/>
          </a:solidFill>
          <a:ln w="12700">
            <a:solidFill>
              <a:srgbClr val="22503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28432" y="3154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one paragraph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028432" y="3474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minutes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0" y="4059936"/>
            <a:ext cx="3794760" cy="841248"/>
          </a:xfrm>
          <a:prstGeom prst="roundRect">
            <a:avLst>
              <a:gd name="adj" fmla="val 13043"/>
            </a:avLst>
          </a:prstGeom>
          <a:solidFill>
            <a:srgbClr val="1B4436"/>
          </a:solidFill>
          <a:ln w="12700">
            <a:solidFill>
              <a:srgbClr val="22503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28432" y="41970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 sentence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028432" y="45171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hard part isn't the work — it's starting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65576" cy="2688336"/>
          </a:xfrm>
          <a:prstGeom prst="roundRect">
            <a:avLst>
              <a:gd name="adj" fmla="val 476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103120"/>
            <a:ext cx="457200" cy="457200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2174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2743200"/>
            <a:ext cx="2880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i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“I'll start right after this one video.”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32688" y="371246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initiation — the wall before the work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79976" y="1828800"/>
            <a:ext cx="3465576" cy="2688336"/>
          </a:xfrm>
          <a:prstGeom prst="roundRect">
            <a:avLst>
              <a:gd name="adj" fmla="val 476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72584" y="2103120"/>
            <a:ext cx="457200" cy="457200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4" y="22174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2584" y="2743200"/>
            <a:ext cx="2880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i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don't even know where to begin.”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72584" y="371246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decomposition — the task stays one huge blob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19872" y="1828800"/>
            <a:ext cx="3465576" cy="2688336"/>
          </a:xfrm>
          <a:prstGeom prst="roundRect">
            <a:avLst>
              <a:gd name="adj" fmla="val 476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0" y="2103120"/>
            <a:ext cx="457200" cy="457200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221742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743200"/>
            <a:ext cx="2880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i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studied for three hours and remember nothing.”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12480" y="371246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feedback loop — effort without retention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937760"/>
            <a:ext cx="10911535" cy="1280160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 w="12700">
            <a:solidFill>
              <a:srgbClr val="F0DDB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24128" y="5358384"/>
            <a:ext cx="457200" cy="457200"/>
          </a:xfrm>
          <a:prstGeom prst="ellipse">
            <a:avLst/>
          </a:prstGeom>
          <a:solidFill>
            <a:srgbClr val="F5E3C6"/>
          </a:solidFill>
          <a:ln w="12700">
            <a:solidFill>
              <a:srgbClr val="F5E3C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" y="5472684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64208" y="5138928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5A4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Roughly 1 in 10 school-age children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4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been diagnosed with ADHD. For them this isn't laziness or a motivation problem — it's executive function, and no amount of “try harder” touches it.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664208" y="5907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CDC, 2022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NOTHING HELPS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study tool assumes you can already start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65576" cy="3346704"/>
          </a:xfrm>
          <a:prstGeom prst="roundRect">
            <a:avLst>
              <a:gd name="adj" fmla="val 3825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139696"/>
            <a:ext cx="512064" cy="512064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26771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290779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To-do apps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32688" y="334670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276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the task is already broken down.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2688" y="4059936"/>
            <a:ext cx="28803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a list of blobs you still can't begin — now with guilt attached.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1828800"/>
            <a:ext cx="3465576" cy="3346704"/>
          </a:xfrm>
          <a:prstGeom prst="roundRect">
            <a:avLst>
              <a:gd name="adj" fmla="val 3825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72584" y="2139696"/>
            <a:ext cx="512064" cy="512064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26771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72584" y="290779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AI chatbots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72584" y="334670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276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you want the answer.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672584" y="4059936"/>
            <a:ext cx="28803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hand you the finished essay, so nothing is learned and nothing is remembered.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19872" y="1828800"/>
            <a:ext cx="3465576" cy="3346704"/>
          </a:xfrm>
          <a:prstGeom prst="roundRect">
            <a:avLst>
              <a:gd name="adj" fmla="val 3825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0" y="2139696"/>
            <a:ext cx="512064" cy="512064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26771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290779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Tutoring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412480" y="334670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276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Assumes an adult is in the room, on schedule.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412480" y="4059936"/>
            <a:ext cx="28803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Expensive, and it isn't there at 9pm when the wall actually shows up.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40080" y="55961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Eliora starts one step earlier </a:t>
            </a:r>
            <a:pPr algn="ctr" indent="0" marL="0">
              <a:buNone/>
            </a:pPr>
            <a:r>
              <a:rPr lang="en-US" sz="2200" dirty="0">
                <a:solidFill>
                  <a:srgbClr val="5A68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at the moment you can't begin.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ELIORA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shrinks the first step until it feels </a:t>
            </a:r>
            <a:pPr indent="0" marL="0">
              <a:lnSpc>
                <a:spcPts val="4800"/>
              </a:lnSpc>
              <a:buNone/>
            </a:pPr>
            <a:r>
              <a:rPr lang="en-US" sz="3600" b="1" i="1" dirty="0">
                <a:solidFill>
                  <a:srgbClr val="BFD8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easy</a:t>
            </a:r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then keeps you moving, one step at a time, for as long as it takes.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4443984"/>
            <a:ext cx="2542032" cy="1298448"/>
          </a:xfrm>
          <a:prstGeom prst="roundRect">
            <a:avLst>
              <a:gd name="adj" fmla="val 8451"/>
            </a:avLst>
          </a:prstGeom>
          <a:solidFill>
            <a:srgbClr val="1B4436"/>
          </a:solidFill>
          <a:ln w="12700">
            <a:solidFill>
              <a:srgbClr val="2250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4681728"/>
            <a:ext cx="438912" cy="438912"/>
          </a:xfrm>
          <a:prstGeom prst="ellipse">
            <a:avLst/>
          </a:prstGeom>
          <a:solidFill>
            <a:srgbClr val="23543F"/>
          </a:solidFill>
          <a:ln w="12700">
            <a:solidFill>
              <a:srgbClr val="23543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79145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4663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523036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adaptive, with checkpoints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4443984"/>
            <a:ext cx="2542032" cy="1298448"/>
          </a:xfrm>
          <a:prstGeom prst="roundRect">
            <a:avLst>
              <a:gd name="adj" fmla="val 8451"/>
            </a:avLst>
          </a:prstGeom>
          <a:solidFill>
            <a:srgbClr val="1B4436"/>
          </a:solidFill>
          <a:ln w="12700">
            <a:solidFill>
              <a:srgbClr val="22503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85032" y="4681728"/>
            <a:ext cx="438912" cy="438912"/>
          </a:xfrm>
          <a:prstGeom prst="ellipse">
            <a:avLst/>
          </a:prstGeom>
          <a:solidFill>
            <a:srgbClr val="23543F"/>
          </a:solidFill>
          <a:ln w="12700">
            <a:solidFill>
              <a:srgbClr val="23543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479145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33672" y="4663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85032" y="523036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garden that grows as you work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4443984"/>
            <a:ext cx="2542032" cy="1298448"/>
          </a:xfrm>
          <a:prstGeom prst="roundRect">
            <a:avLst>
              <a:gd name="adj" fmla="val 8451"/>
            </a:avLst>
          </a:prstGeom>
          <a:solidFill>
            <a:srgbClr val="1B4436"/>
          </a:solidFill>
          <a:ln w="12700">
            <a:solidFill>
              <a:srgbClr val="22503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73952" y="4681728"/>
            <a:ext cx="438912" cy="438912"/>
          </a:xfrm>
          <a:prstGeom prst="ellipse">
            <a:avLst/>
          </a:prstGeom>
          <a:solidFill>
            <a:srgbClr val="23543F"/>
          </a:solidFill>
          <a:ln w="12700">
            <a:solidFill>
              <a:srgbClr val="23543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79145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22592" y="4663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73952" y="523036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 that revisit your misses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06840" y="4443984"/>
            <a:ext cx="2542032" cy="1298448"/>
          </a:xfrm>
          <a:prstGeom prst="roundRect">
            <a:avLst>
              <a:gd name="adj" fmla="val 8451"/>
            </a:avLst>
          </a:prstGeom>
          <a:solidFill>
            <a:srgbClr val="1B4436"/>
          </a:solidFill>
          <a:ln w="12700">
            <a:solidFill>
              <a:srgbClr val="22503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62872" y="4681728"/>
            <a:ext cx="438912" cy="438912"/>
          </a:xfrm>
          <a:prstGeom prst="ellipse">
            <a:avLst/>
          </a:prstGeom>
          <a:solidFill>
            <a:srgbClr val="23543F"/>
          </a:solidFill>
          <a:ln w="12700">
            <a:solidFill>
              <a:srgbClr val="23543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4791456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11512" y="4663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62872" y="523036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+ monthly reports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rules, applied everywhere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85816" cy="2157984"/>
          </a:xfrm>
          <a:prstGeom prst="roundRect">
            <a:avLst>
              <a:gd name="adj" fmla="val 593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2286000"/>
            <a:ext cx="566928" cy="566928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" y="24277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00784" y="22860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starting easy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700784" y="2743200"/>
            <a:ext cx="40599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Eliora keeps shrinking the first step until the learner says yes. “Open the doc” is a valid step.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0216" y="1828800"/>
            <a:ext cx="5385816" cy="2157984"/>
          </a:xfrm>
          <a:prstGeom prst="roundRect">
            <a:avLst>
              <a:gd name="adj" fmla="val 593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29400" y="2286000"/>
            <a:ext cx="566928" cy="566928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132" y="24277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2860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tiny step at a time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360920" y="2743200"/>
            <a:ext cx="40599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 wall of tasks. The plan exists in full, but only the next milestone is in front of you.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169664"/>
            <a:ext cx="5385816" cy="2157984"/>
          </a:xfrm>
          <a:prstGeom prst="roundRect">
            <a:avLst>
              <a:gd name="adj" fmla="val 593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9264" y="4626864"/>
            <a:ext cx="566928" cy="566928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" y="4768596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00784" y="462686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Externalize everything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700784" y="5084064"/>
            <a:ext cx="40599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Plan, checkpoints, calendar, missed topics — all held by the app, not by working memory.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00216" y="4169664"/>
            <a:ext cx="5385816" cy="2157984"/>
          </a:xfrm>
          <a:prstGeom prst="roundRect">
            <a:avLst>
              <a:gd name="adj" fmla="val 593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29400" y="4626864"/>
            <a:ext cx="566928" cy="566928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132" y="4768596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62686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shame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360920" y="5084064"/>
            <a:ext cx="40599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Distraction and missed sessions are expected. Eliora just shrinks the next step and restarts.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“I can't start” to three steps already done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83664"/>
            <a:ext cx="2542032" cy="3657600"/>
          </a:xfrm>
          <a:prstGeom prst="roundRect">
            <a:avLst>
              <a:gd name="adj" fmla="val 5036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212848"/>
            <a:ext cx="530352" cy="530352"/>
          </a:xfrm>
          <a:prstGeom prst="ellipse">
            <a:avLst/>
          </a:prstGeom>
          <a:solidFill>
            <a:srgbClr val="276950"/>
          </a:solidFill>
          <a:ln w="12700">
            <a:solidFill>
              <a:srgbClr val="276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292608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her about you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3602736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60-second sign-up survey: your class, what you struggle with, how you like to learn, what you're into.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6976" y="3602736"/>
            <a:ext cx="219456" cy="2194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29000" y="1883664"/>
            <a:ext cx="2542032" cy="3657600"/>
          </a:xfrm>
          <a:prstGeom prst="roundRect">
            <a:avLst>
              <a:gd name="adj" fmla="val 5036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21608" y="2212848"/>
            <a:ext cx="530352" cy="530352"/>
          </a:xfrm>
          <a:prstGeom prst="ellipse">
            <a:avLst/>
          </a:prstGeom>
          <a:solidFill>
            <a:srgbClr val="276950"/>
          </a:solidFill>
          <a:ln w="12700">
            <a:solidFill>
              <a:srgbClr val="2769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21608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721608" y="292608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builds the plan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721608" y="3602736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milestone checklist with 🚩 checkpoints — short quizzes placed between milestones so nothing is skipped.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3602736"/>
            <a:ext cx="219456" cy="21945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17920" y="1883664"/>
            <a:ext cx="2542032" cy="3657600"/>
          </a:xfrm>
          <a:prstGeom prst="roundRect">
            <a:avLst>
              <a:gd name="adj" fmla="val 5036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10528" y="2212848"/>
            <a:ext cx="530352" cy="530352"/>
          </a:xfrm>
          <a:prstGeom prst="ellipse">
            <a:avLst/>
          </a:prstGeom>
          <a:solidFill>
            <a:srgbClr val="276950"/>
          </a:solidFill>
          <a:ln w="12700">
            <a:solidFill>
              <a:srgbClr val="27695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510528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510528" y="292608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do one sprint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6510528" y="3602736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15 or 25-minute focus sprint in the garden. One step, a timer, and nothing else on screen.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16" y="3602736"/>
            <a:ext cx="219456" cy="219456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006840" y="1883664"/>
            <a:ext cx="2542032" cy="3657600"/>
          </a:xfrm>
          <a:prstGeom prst="roundRect">
            <a:avLst>
              <a:gd name="adj" fmla="val 5036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299448" y="2212848"/>
            <a:ext cx="530352" cy="530352"/>
          </a:xfrm>
          <a:prstGeom prst="ellipse">
            <a:avLst/>
          </a:prstGeom>
          <a:solidFill>
            <a:srgbClr val="276950"/>
          </a:solidFill>
          <a:ln w="12700">
            <a:solidFill>
              <a:srgbClr val="27695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299448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9299448" y="292608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adapts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9299448" y="3602736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topics are saved and re-taught first. Exams on the calendar pull review earlier.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40080" y="5815584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Profile, plan and progress persist on the device — she picks up mid-thought next time.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reward loop that survives a bad day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" cy="512064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956816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3312" y="181051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flower grows while you focus.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53312" y="2194560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the sprint and it stops growing — it never dies, and nothing scolds you.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145536"/>
            <a:ext cx="512064" cy="512064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27355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53312" y="312724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Finishing a sprint plants it, and earns coins.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353312" y="3511296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or 25-minute pomodoro sprints with real breaks in between.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462272"/>
            <a:ext cx="512064" cy="512064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59028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53312" y="444398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Coins unlock new places to study.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353312" y="4828032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Garden, Café, Beach, Forest, Library — a reason to come back tomorrow.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449824"/>
            <a:ext cx="6108192" cy="822960"/>
          </a:xfrm>
          <a:prstGeom prst="roundRect">
            <a:avLst>
              <a:gd name="adj" fmla="val 15556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14400" y="5522976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205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reward + zero punishment — the only shape of gamification an ADHD brain reliably comes back to.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187184" y="1828800"/>
            <a:ext cx="4370832" cy="4443984"/>
          </a:xfrm>
          <a:prstGeom prst="roundRect">
            <a:avLst>
              <a:gd name="adj" fmla="val 2929"/>
            </a:avLst>
          </a:prstGeom>
          <a:solidFill>
            <a:srgbClr val="12332A"/>
          </a:solidFill>
          <a:ln w="12700">
            <a:solidFill>
              <a:srgbClr val="12332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006840" y="2231136"/>
            <a:ext cx="731520" cy="731520"/>
          </a:xfrm>
          <a:prstGeom prst="ellipse">
            <a:avLst/>
          </a:prstGeom>
          <a:solidFill>
            <a:srgbClr val="1B4436"/>
          </a:solidFill>
          <a:ln w="12700">
            <a:solidFill>
              <a:srgbClr val="1B443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2414016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61504" y="3163824"/>
            <a:ext cx="3822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25:00</a:t>
            </a:r>
            <a:endParaRPr lang="en-US" sz="5000" dirty="0"/>
          </a:p>
        </p:txBody>
      </p:sp>
      <p:sp>
        <p:nvSpPr>
          <p:cNvPr id="22" name="Text 16"/>
          <p:cNvSpPr/>
          <p:nvPr/>
        </p:nvSpPr>
        <p:spPr>
          <a:xfrm>
            <a:off x="7461504" y="40416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D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sprint · the beach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7772400" y="4572000"/>
            <a:ext cx="3200400" cy="146304"/>
          </a:xfrm>
          <a:prstGeom prst="roundRect">
            <a:avLst>
              <a:gd name="adj" fmla="val 50000"/>
            </a:avLst>
          </a:prstGeom>
          <a:solidFill>
            <a:srgbClr val="20503F"/>
          </a:solidFill>
          <a:ln w="12700">
            <a:solidFill>
              <a:srgbClr val="20503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772400" y="4572000"/>
            <a:ext cx="2084832" cy="146304"/>
          </a:xfrm>
          <a:prstGeom prst="roundRect">
            <a:avLst>
              <a:gd name="adj" fmla="val 50000"/>
            </a:avLst>
          </a:prstGeom>
          <a:solidFill>
            <a:srgbClr val="4A8F5E"/>
          </a:solidFill>
          <a:ln w="12700">
            <a:solidFill>
              <a:srgbClr val="4A8F5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626096" y="4974336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one page of the biology chapter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626096" y="5376672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whole step — nothing else is on screen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626096" y="5779008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coins earned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MATERIAL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teaches from your class, not the average 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85816" cy="2157984"/>
          </a:xfrm>
          <a:prstGeom prst="roundRect">
            <a:avLst>
              <a:gd name="adj" fmla="val 593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2286000"/>
            <a:ext cx="566928" cy="566928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" y="24277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00784" y="22860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Paste your notes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00784" y="2743200"/>
            <a:ext cx="40599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→ key points → self-check questions, rewritten in your learning style.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0216" y="1828800"/>
            <a:ext cx="5385816" cy="2157984"/>
          </a:xfrm>
          <a:prstGeom prst="roundRect">
            <a:avLst>
              <a:gd name="adj" fmla="val 593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29400" y="2286000"/>
            <a:ext cx="566928" cy="566928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132" y="24277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2860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a YouTube link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360920" y="2743200"/>
            <a:ext cx="40599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transcript is fetched server-side and turned into topic-organised notes with [mm:ss] anchors.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169664"/>
            <a:ext cx="5385816" cy="2157984"/>
          </a:xfrm>
          <a:prstGeom prst="roundRect">
            <a:avLst>
              <a:gd name="adj" fmla="val 593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9264" y="4626864"/>
            <a:ext cx="566928" cy="566928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" y="4768596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00784" y="462686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a PDF or a photo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700784" y="5084064"/>
            <a:ext cx="40599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worksheet, a slide deck, a photo of the whiteboard — all become study material.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00216" y="4169664"/>
            <a:ext cx="5385816" cy="2157984"/>
          </a:xfrm>
          <a:prstGeom prst="roundRect">
            <a:avLst>
              <a:gd name="adj" fmla="val 593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29400" y="4626864"/>
            <a:ext cx="566928" cy="566928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132" y="4768596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62686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any of it into a lesson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360920" y="5084064"/>
            <a:ext cx="40599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Sections, key terms and a check quiz built from your material — mini or full length.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that remembers what you got wrong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577840" cy="1325880"/>
          </a:xfrm>
          <a:prstGeom prst="roundRect">
            <a:avLst>
              <a:gd name="adj" fmla="val 9655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212848"/>
            <a:ext cx="548640" cy="548640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5000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21396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Flashcards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27632" y="2523744"/>
            <a:ext cx="4315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cards, with a “still learning” tag that feeds revision.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319272"/>
            <a:ext cx="5577840" cy="1325880"/>
          </a:xfrm>
          <a:prstGeom prst="roundRect">
            <a:avLst>
              <a:gd name="adj" fmla="val 9655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2688" y="3703320"/>
            <a:ext cx="548640" cy="548640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8404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27632" y="36301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Quizzes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627632" y="4014216"/>
            <a:ext cx="4315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Auto-graded multiple choice with an explanation for every answer.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809744"/>
            <a:ext cx="5577840" cy="1325880"/>
          </a:xfrm>
          <a:prstGeom prst="roundRect">
            <a:avLst>
              <a:gd name="adj" fmla="val 9655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2688" y="5193792"/>
            <a:ext cx="548640" cy="548640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53309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27632" y="51206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guides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627632" y="5504688"/>
            <a:ext cx="4315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and scannable, written around your interests.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729984" y="1828800"/>
            <a:ext cx="4828032" cy="4279392"/>
          </a:xfrm>
          <a:prstGeom prst="roundRect">
            <a:avLst>
              <a:gd name="adj" fmla="val 2991"/>
            </a:avLst>
          </a:prstGeom>
          <a:solidFill>
            <a:srgbClr val="12332A"/>
          </a:solidFill>
          <a:ln w="12700">
            <a:solidFill>
              <a:srgbClr val="12332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022592" y="21396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REVISION LOOP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022592" y="2670048"/>
            <a:ext cx="384048" cy="384048"/>
          </a:xfrm>
          <a:prstGeom prst="ellipse">
            <a:avLst/>
          </a:prstGeom>
          <a:solidFill>
            <a:srgbClr val="1B4436"/>
          </a:solidFill>
          <a:ln w="12700">
            <a:solidFill>
              <a:srgbClr val="2A5B4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022592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571232" y="2633472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BFD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a question wrong.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7022592" y="3511296"/>
            <a:ext cx="384048" cy="384048"/>
          </a:xfrm>
          <a:prstGeom prst="ellipse">
            <a:avLst/>
          </a:prstGeom>
          <a:solidFill>
            <a:srgbClr val="1B4436"/>
          </a:solidFill>
          <a:ln w="12700">
            <a:solidFill>
              <a:srgbClr val="2A5B4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022592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7571232" y="3474720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BFD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topic is saved to your weak spots.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7022592" y="4352544"/>
            <a:ext cx="384048" cy="384048"/>
          </a:xfrm>
          <a:prstGeom prst="ellipse">
            <a:avLst/>
          </a:prstGeom>
          <a:solidFill>
            <a:srgbClr val="1B4436"/>
          </a:solidFill>
          <a:ln w="12700">
            <a:solidFill>
              <a:srgbClr val="2A5B47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022592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7571232" y="4315968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BFD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sent with every later request.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7022592" y="5193792"/>
            <a:ext cx="384048" cy="384048"/>
          </a:xfrm>
          <a:prstGeom prst="ellipse">
            <a:avLst/>
          </a:prstGeom>
          <a:solidFill>
            <a:srgbClr val="4A8F5E"/>
          </a:solidFill>
          <a:ln w="12700">
            <a:solidFill>
              <a:srgbClr val="2A5B47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022592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7571232" y="5157216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re-teaches and re-quizzes it first.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7022592" y="57058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you got wrong quietly disappears.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tutors, one voice per subject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42032" cy="1755648"/>
          </a:xfrm>
          <a:prstGeom prst="roundRect">
            <a:avLst>
              <a:gd name="adj" fmla="val 7292"/>
            </a:avLst>
          </a:prstGeom>
          <a:solidFill>
            <a:srgbClr val="276950"/>
          </a:solidFill>
          <a:ln w="12700">
            <a:solidFill>
              <a:srgbClr val="276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75104"/>
            <a:ext cx="493776" cy="493776"/>
          </a:xfrm>
          <a:prstGeom prst="ellipse">
            <a:avLst/>
          </a:prstGeom>
          <a:solidFill>
            <a:srgbClr val="1E5741"/>
          </a:solidFill>
          <a:ln w="12700">
            <a:solidFill>
              <a:srgbClr val="1E574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2098548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9616" y="19568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Eliora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99616" y="22494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subjects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96112" y="2633472"/>
            <a:ext cx="20482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D5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all-round study coach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29000" y="1737360"/>
            <a:ext cx="2542032" cy="1755648"/>
          </a:xfrm>
          <a:prstGeom prst="roundRect">
            <a:avLst>
              <a:gd name="adj" fmla="val 729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85032" y="1975104"/>
            <a:ext cx="493776" cy="493776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6" y="2098548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88536" y="19568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Milo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288536" y="22494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685032" y="2633472"/>
            <a:ext cx="20482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Numbers, step by step — never skips a line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0" y="1737360"/>
            <a:ext cx="2542032" cy="1755648"/>
          </a:xfrm>
          <a:prstGeom prst="roundRect">
            <a:avLst>
              <a:gd name="adj" fmla="val 729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73952" y="1975104"/>
            <a:ext cx="493776" cy="493776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098548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77456" y="19568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Iris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7077456" y="22494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473952" y="2633472"/>
            <a:ext cx="20482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the why behind every fact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006840" y="1737360"/>
            <a:ext cx="2542032" cy="1755648"/>
          </a:xfrm>
          <a:prstGeom prst="roundRect">
            <a:avLst>
              <a:gd name="adj" fmla="val 729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262872" y="1975104"/>
            <a:ext cx="493776" cy="493776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6316" y="2098548"/>
            <a:ext cx="246888" cy="2468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866376" y="19568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Wren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9866376" y="22494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&amp; writing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262872" y="2633472"/>
            <a:ext cx="20482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you unstuck on the blank page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40080" y="3730752"/>
            <a:ext cx="2542032" cy="1755648"/>
          </a:xfrm>
          <a:prstGeom prst="roundRect">
            <a:avLst>
              <a:gd name="adj" fmla="val 729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96112" y="3968496"/>
            <a:ext cx="493776" cy="493776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" y="4091940"/>
            <a:ext cx="246888" cy="2468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99616" y="39502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Atlas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1499616" y="42428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896112" y="4626864"/>
            <a:ext cx="20482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dates into stories that stick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3429000" y="3730752"/>
            <a:ext cx="2542032" cy="1755648"/>
          </a:xfrm>
          <a:prstGeom prst="roundRect">
            <a:avLst>
              <a:gd name="adj" fmla="val 729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3685032" y="3968496"/>
            <a:ext cx="493776" cy="493776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4091940"/>
            <a:ext cx="246888" cy="24688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288536" y="39502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Pixel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4288536" y="42428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&amp; tech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3685032" y="4626864"/>
            <a:ext cx="20482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it together, one line at a time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6217920" y="3730752"/>
            <a:ext cx="2542032" cy="1755648"/>
          </a:xfrm>
          <a:prstGeom prst="roundRect">
            <a:avLst>
              <a:gd name="adj" fmla="val 729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6473952" y="3968496"/>
            <a:ext cx="493776" cy="493776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7396" y="4091940"/>
            <a:ext cx="246888" cy="24688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7077456" y="39502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Lingo</a:t>
            </a:r>
            <a:endParaRPr lang="en-US" sz="1800" dirty="0"/>
          </a:p>
        </p:txBody>
      </p:sp>
      <p:sp>
        <p:nvSpPr>
          <p:cNvPr id="44" name="Text 35"/>
          <p:cNvSpPr/>
          <p:nvPr/>
        </p:nvSpPr>
        <p:spPr>
          <a:xfrm>
            <a:off x="7077456" y="42428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050" dirty="0"/>
          </a:p>
        </p:txBody>
      </p:sp>
      <p:sp>
        <p:nvSpPr>
          <p:cNvPr id="45" name="Text 36"/>
          <p:cNvSpPr/>
          <p:nvPr/>
        </p:nvSpPr>
        <p:spPr>
          <a:xfrm>
            <a:off x="6473952" y="4626864"/>
            <a:ext cx="20482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out loud, mistakes welcome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9006840" y="3730752"/>
            <a:ext cx="2542032" cy="1755648"/>
          </a:xfrm>
          <a:prstGeom prst="roundRect">
            <a:avLst>
              <a:gd name="adj" fmla="val 729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9262872" y="3968496"/>
            <a:ext cx="493776" cy="493776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4091940"/>
            <a:ext cx="246888" cy="246888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9866376" y="39502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Quill</a:t>
            </a:r>
            <a:endParaRPr lang="en-US" sz="1800" dirty="0"/>
          </a:p>
        </p:txBody>
      </p:sp>
      <p:sp>
        <p:nvSpPr>
          <p:cNvPr id="50" name="Text 40"/>
          <p:cNvSpPr/>
          <p:nvPr/>
        </p:nvSpPr>
        <p:spPr>
          <a:xfrm>
            <a:off x="9866376" y="42428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prep</a:t>
            </a:r>
            <a:endParaRPr lang="en-US" sz="1050" dirty="0"/>
          </a:p>
        </p:txBody>
      </p:sp>
      <p:sp>
        <p:nvSpPr>
          <p:cNvPr id="51" name="Text 41"/>
          <p:cNvSpPr/>
          <p:nvPr/>
        </p:nvSpPr>
        <p:spPr>
          <a:xfrm>
            <a:off x="9262872" y="4626864"/>
            <a:ext cx="20482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timed practice for the big day</a:t>
            </a:r>
            <a:endParaRPr lang="en-US" sz="1200" dirty="0"/>
          </a:p>
        </p:txBody>
      </p:sp>
      <p:sp>
        <p:nvSpPr>
          <p:cNvPr id="52" name="Text 42"/>
          <p:cNvSpPr/>
          <p:nvPr/>
        </p:nvSpPr>
        <p:spPr>
          <a:xfrm>
            <a:off x="640080" y="5797296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has its own voice, pacing and teaching style — timed sessions she opens, plans and wraps up.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UNSTUCK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that refuses to do it for you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85816" cy="2157984"/>
          </a:xfrm>
          <a:prstGeom prst="roundRect">
            <a:avLst>
              <a:gd name="adj" fmla="val 593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2286000"/>
            <a:ext cx="566928" cy="566928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" y="24277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00784" y="22860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desk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00784" y="2743200"/>
            <a:ext cx="40599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“I'm stuck on question 4.” She gives the next hint, never the answer — plus test-prep plans and learn-a-topic paths.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0216" y="1828800"/>
            <a:ext cx="5385816" cy="2157984"/>
          </a:xfrm>
          <a:prstGeom prst="roundRect">
            <a:avLst>
              <a:gd name="adj" fmla="val 593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29400" y="2286000"/>
            <a:ext cx="566928" cy="566928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132" y="24277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2860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 reviewer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360920" y="2743200"/>
            <a:ext cx="40599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your essay before you hand it in, tells you what to fix, and shows the grade delta when you re-check.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169664"/>
            <a:ext cx="5385816" cy="2157984"/>
          </a:xfrm>
          <a:prstGeom prst="roundRect">
            <a:avLst>
              <a:gd name="adj" fmla="val 593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9264" y="4626864"/>
            <a:ext cx="566928" cy="566928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" y="4768596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00784" y="462686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Priorities → schedule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700784" y="5084064"/>
            <a:ext cx="40599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everything on your plate, breaks each item into what it actually needs, and lays it across your days.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00216" y="4169664"/>
            <a:ext cx="5385816" cy="2157984"/>
          </a:xfrm>
          <a:prstGeom prst="roundRect">
            <a:avLst>
              <a:gd name="adj" fmla="val 5932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29400" y="4626864"/>
            <a:ext cx="566928" cy="566928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132" y="4768596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62686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 examples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360920" y="5084064"/>
            <a:ext cx="40599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Anonymised examples of how other students got through the same problem.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more than ADHD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65576" cy="1444752"/>
          </a:xfrm>
          <a:prstGeom prst="roundRect">
            <a:avLst>
              <a:gd name="adj" fmla="val 8861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493776" cy="493776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2226564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88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Dyslexia-friendly font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9626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extra letter spacing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9976" y="1828800"/>
            <a:ext cx="3465576" cy="1444752"/>
          </a:xfrm>
          <a:prstGeom prst="roundRect">
            <a:avLst>
              <a:gd name="adj" fmla="val 8861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54296" y="2103120"/>
            <a:ext cx="493776" cy="493776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226564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54296" y="2688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Larger text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54296" y="29626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wider line + word spacing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9872" y="1828800"/>
            <a:ext cx="3465576" cy="1444752"/>
          </a:xfrm>
          <a:prstGeom prst="roundRect">
            <a:avLst>
              <a:gd name="adj" fmla="val 8861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94192" y="2103120"/>
            <a:ext cx="493776" cy="493776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636" y="2226564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688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contrast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94192" y="29626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light and dark themes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529584"/>
            <a:ext cx="3465576" cy="1444752"/>
          </a:xfrm>
          <a:prstGeom prst="roundRect">
            <a:avLst>
              <a:gd name="adj" fmla="val 8861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3803904"/>
            <a:ext cx="493776" cy="493776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" y="3927348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Reduced motion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" y="4663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sensory comfort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79976" y="3529584"/>
            <a:ext cx="3465576" cy="1444752"/>
          </a:xfrm>
          <a:prstGeom prst="roundRect">
            <a:avLst>
              <a:gd name="adj" fmla="val 8861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54296" y="3803904"/>
            <a:ext cx="493776" cy="493776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3927348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54296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aloud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54296" y="4663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every message, web and mobile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19872" y="3529584"/>
            <a:ext cx="3465576" cy="1444752"/>
          </a:xfrm>
          <a:prstGeom prst="roundRect">
            <a:avLst>
              <a:gd name="adj" fmla="val 8861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94192" y="3803904"/>
            <a:ext cx="493776" cy="493776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7636" y="3927348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94192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settings honoured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94192" y="4663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size, bold text, contrast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640080" y="5358384"/>
            <a:ext cx="10911535" cy="969264"/>
          </a:xfrm>
          <a:prstGeom prst="roundRect">
            <a:avLst>
              <a:gd name="adj" fmla="val 13208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969264" y="5449824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05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Eliora's system prompt also adapts for dyslexia, dyscalculia, memory and processing differences, and anxiety — plain words, tiny steps, and examples pulled from what the learner is actually into.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Studying alone is where it falls apart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83664"/>
            <a:ext cx="2542032" cy="2798064"/>
          </a:xfrm>
          <a:prstGeom prst="roundRect">
            <a:avLst>
              <a:gd name="adj" fmla="val 5036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212848"/>
            <a:ext cx="548640" cy="548640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5000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944368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rooms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96112" y="3639312"/>
            <a:ext cx="20482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alongside other people, on your own material.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9000" y="1883664"/>
            <a:ext cx="2542032" cy="2798064"/>
          </a:xfrm>
          <a:prstGeom prst="roundRect">
            <a:avLst>
              <a:gd name="adj" fmla="val 5036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85032" y="2212848"/>
            <a:ext cx="548640" cy="548640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35000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2944368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folders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3685032" y="3639312"/>
            <a:ext cx="20482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 for a class's notes, lessons and material.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883664"/>
            <a:ext cx="2542032" cy="2798064"/>
          </a:xfrm>
          <a:prstGeom prst="roundRect">
            <a:avLst>
              <a:gd name="adj" fmla="val 5036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73952" y="2212848"/>
            <a:ext cx="548640" cy="548640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35000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944368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Doubts board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6473952" y="3639312"/>
            <a:ext cx="20482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what you're stuck on; answers come back to the group.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06840" y="1883664"/>
            <a:ext cx="2542032" cy="2798064"/>
          </a:xfrm>
          <a:prstGeom prst="roundRect">
            <a:avLst>
              <a:gd name="adj" fmla="val 5036"/>
            </a:avLst>
          </a:prstGeom>
          <a:solidFill>
            <a:srgbClr val="F6FAF6"/>
          </a:solidFill>
          <a:ln w="12700">
            <a:solidFill>
              <a:srgbClr val="E1EAE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62872" y="2212848"/>
            <a:ext cx="548640" cy="548640"/>
          </a:xfrm>
          <a:prstGeom prst="ellipse">
            <a:avLst/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235000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62872" y="2944368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621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to Google Docs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9262872" y="3639312"/>
            <a:ext cx="20482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8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your notes out of the app whenever you want.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5029200"/>
            <a:ext cx="10911535" cy="1133856"/>
          </a:xfrm>
          <a:prstGeom prst="roundRect">
            <a:avLst>
              <a:gd name="adj" fmla="val 11290"/>
            </a:avLst>
          </a:prstGeom>
          <a:solidFill>
            <a:srgbClr val="FDF3E3"/>
          </a:solidFill>
          <a:ln w="12700">
            <a:solidFill>
              <a:srgbClr val="F0DDB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24128" y="5367528"/>
            <a:ext cx="457200" cy="457200"/>
          </a:xfrm>
          <a:prstGeom prst="ellipse">
            <a:avLst/>
          </a:prstGeom>
          <a:solidFill>
            <a:srgbClr val="F5E3C6"/>
          </a:solidFill>
          <a:ln w="12700">
            <a:solidFill>
              <a:srgbClr val="F5E3C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428" y="5481828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64208" y="5175504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4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and monthly progress reports go to the learner — and give a parent or teacher something honest to look at.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demo — a working product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73936"/>
            <a:ext cx="2542032" cy="2157984"/>
          </a:xfrm>
          <a:prstGeom prst="roundRect">
            <a:avLst>
              <a:gd name="adj" fmla="val 5085"/>
            </a:avLst>
          </a:prstGeom>
          <a:solidFill>
            <a:srgbClr val="1B4436"/>
          </a:solidFill>
          <a:ln w="12700">
            <a:solidFill>
              <a:srgbClr val="2250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975104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A8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96112" y="279806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96112" y="3127248"/>
            <a:ext cx="20482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chat, lessons, tutor, review, priorities, reports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773936"/>
            <a:ext cx="2542032" cy="2157984"/>
          </a:xfrm>
          <a:prstGeom prst="roundRect">
            <a:avLst>
              <a:gd name="adj" fmla="val 5085"/>
            </a:avLst>
          </a:prstGeom>
          <a:solidFill>
            <a:srgbClr val="1B4436"/>
          </a:solidFill>
          <a:ln w="12700">
            <a:solidFill>
              <a:srgbClr val="2250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5032" y="1975104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A8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685032" y="279806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685032" y="3127248"/>
            <a:ext cx="20482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calls them to save plans, quiz you, log mistakes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773936"/>
            <a:ext cx="2542032" cy="2157984"/>
          </a:xfrm>
          <a:prstGeom prst="roundRect">
            <a:avLst>
              <a:gd name="adj" fmla="val 5085"/>
            </a:avLst>
          </a:prstGeom>
          <a:solidFill>
            <a:srgbClr val="1B4436"/>
          </a:solidFill>
          <a:ln w="12700">
            <a:solidFill>
              <a:srgbClr val="2250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975104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A8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473952" y="279806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tutors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73952" y="3127248"/>
            <a:ext cx="20482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with its own voice and teaching style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1773936"/>
            <a:ext cx="2542032" cy="2157984"/>
          </a:xfrm>
          <a:prstGeom prst="roundRect">
            <a:avLst>
              <a:gd name="adj" fmla="val 5085"/>
            </a:avLst>
          </a:prstGeom>
          <a:solidFill>
            <a:srgbClr val="1B4436"/>
          </a:solidFill>
          <a:ln w="12700">
            <a:solidFill>
              <a:srgbClr val="2250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62872" y="1975104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A8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9262872" y="279806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apps, one brain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262872" y="3127248"/>
            <a:ext cx="20482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web + Expo mobile, sharing a single API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4074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packages/shared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75488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prompt and tool definitions — server-side only, never shipped to a client.</a:t>
            </a:r>
            <a:endParaRPr lang="en-US" sz="12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9936" y="4443984"/>
            <a:ext cx="219456" cy="21945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379976" y="44074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apps/web  ·  /api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379976" y="475488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app plus every API route. Streams token-by-token, calls tools mid-answer.</a:t>
            </a:r>
            <a:endParaRPr lang="en-US" sz="12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4443984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119872" y="44074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apps/mobile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8119872" y="475488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React Native, talking to the same API. One behaviour, two platforms.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40080" y="5815584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F9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Profile, plan, calendar and weak spots persist on the device and ride along with every request — so context is never lost between sessions.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3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133856"/>
            <a:ext cx="658368" cy="658368"/>
          </a:xfrm>
          <a:prstGeom prst="ellipse">
            <a:avLst/>
          </a:prstGeom>
          <a:solidFill>
            <a:srgbClr val="1B4436"/>
          </a:solidFill>
          <a:ln w="12700">
            <a:solidFill>
              <a:srgbClr val="1B443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29844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482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0080" y="2523744"/>
            <a:ext cx="365760" cy="365760"/>
          </a:xfrm>
          <a:prstGeom prst="ellipse">
            <a:avLst/>
          </a:prstGeom>
          <a:solidFill>
            <a:srgbClr val="1B4436"/>
          </a:solidFill>
          <a:ln w="12700">
            <a:solidFill>
              <a:srgbClr val="2A5B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88720" y="245059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Accounts and sync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88720" y="276148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profile, plan and history to a database so a learner keeps everything across devices.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1B4436"/>
          </a:solidFill>
          <a:ln w="12700">
            <a:solidFill>
              <a:srgbClr val="2A5B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88720" y="33101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classroom pilot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188720" y="3621024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Eliora with one school's ADHD support group for a term and measure completion, not clicks.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4242816"/>
            <a:ext cx="365760" cy="365760"/>
          </a:xfrm>
          <a:prstGeom prst="ellipse">
            <a:avLst/>
          </a:prstGeom>
          <a:solidFill>
            <a:srgbClr val="1B4436"/>
          </a:solidFill>
          <a:ln w="12700">
            <a:solidFill>
              <a:srgbClr val="2A5B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88720" y="416966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188720" y="448056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sprints started vs finished, and weak spots closed — the two numbers that actually matter.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49440" y="2048256"/>
            <a:ext cx="4608576" cy="2871216"/>
          </a:xfrm>
          <a:prstGeom prst="roundRect">
            <a:avLst>
              <a:gd name="adj" fmla="val 4459"/>
            </a:avLst>
          </a:prstGeom>
          <a:solidFill>
            <a:srgbClr val="1B4436"/>
          </a:solidFill>
          <a:ln w="12700">
            <a:solidFill>
              <a:srgbClr val="22503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23760" y="2651760"/>
            <a:ext cx="4078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starting easy.</a:t>
            </a:r>
            <a:endParaRPr lang="en-US" sz="25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500" b="1" dirty="0">
                <a:solidFill>
                  <a:srgbClr val="4A8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else follows.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7260336" y="4224528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8FA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Eliora — a study coach for the brain that can't start.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536192" y="1188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Eliora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Eliora — pitch</dc:title>
  <dc:subject>PptxGenJS Presentation</dc:subject>
  <dc:creator>Eliora</dc:creator>
  <cp:lastModifiedBy>Eliora</cp:lastModifiedBy>
  <cp:revision>1</cp:revision>
  <dcterms:created xsi:type="dcterms:W3CDTF">2026-08-24T18:15:27Z</dcterms:created>
  <dcterms:modified xsi:type="dcterms:W3CDTF">2026-08-24T18:15:27Z</dcterms:modified>
</cp:coreProperties>
</file>